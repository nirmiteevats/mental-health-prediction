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-156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71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84B59F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Health Condition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Anxiety, Burnout, Depression and Normal states from everyday lifestyle and psychological indicators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8100">
            <a:solidFill>
              <a:srgbClr val="C97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 •  94.9% Test Accuracy  •  Streamlit Web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200" dirty="0" smtClean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NAME]        [</a:t>
            </a:r>
            <a:r>
              <a:rPr lang="en-US" sz="1200" dirty="0" smtClean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SRMCEM</a:t>
            </a:r>
            <a:r>
              <a:rPr lang="en-US" sz="1200" dirty="0" smtClean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200" dirty="0" smtClean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BTECH-CSE(AIML)</a:t>
            </a:r>
            <a:r>
              <a:rPr lang="en-US" sz="1200" dirty="0" smtClean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      10 July </a:t>
            </a:r>
            <a:r>
              <a:rPr lang="en-US" sz="1200" dirty="0">
                <a:solidFill>
                  <a:srgbClr val="9C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conditions like anxiety, burnout, and depression often build up gradually through everyday habits, long before a person seeks clinical help.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screening depends on clinical interviews — costly, slow, and often out of reach until symptoms are already severe.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routine, self-reportable lifestyle data to give people an early, accessible signal — not a diagnosis, but a nudge toward awareness.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F4F8F5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2148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2651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globally live with a mental health condition (WHO)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3383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signs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06640" y="3886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show up first in sleep, stress, and social habits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4617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Self-screening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06640" y="5120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encourage people to seek support sooner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4F8F5"/>
          </a:solidFill>
          <a:ln/>
        </p:spPr>
      </p:sp>
      <p:sp>
        <p:nvSpPr>
          <p:cNvPr id="4" name="Shape 2"/>
          <p:cNvSpPr/>
          <p:nvPr/>
        </p:nvSpPr>
        <p:spPr>
          <a:xfrm>
            <a:off x="1289304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289304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&amp; Clean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demographic, lifestyle and psychological features; remove leakage columns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07208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4F8F5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2944368" y="27889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90088" y="361188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fields; assemble a clean 15-feature input vector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5776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5202936" y="27889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Evaluate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361188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4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Random Forest classifier across 4 mental health classes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24344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4F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5008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065008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7461504" y="27889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07224" y="361188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lifestyle factors matter most via feature importance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82912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4F8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23576" y="19202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10323576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9720072" y="27889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65792" y="361188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interactive Streamlit app for real-time, self-service prediction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85216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 used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4630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F8F5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157276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722376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occupation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sleep_hours, social_media_hours, physical_activity_days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Psychological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stress_level, anxiety_score, depression_score, mood_score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academic_work_pressure, work_life_balance, social_support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" name="Image 0" descr="asse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463040"/>
            <a:ext cx="3566160" cy="2286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2440" y="3840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is reasonable across all four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categories after cleaning.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4846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/>
        </p:spPr>
      </p:sp>
      <p:sp>
        <p:nvSpPr>
          <p:cNvPr id="20" name="Text 16"/>
          <p:cNvSpPr/>
          <p:nvPr/>
        </p:nvSpPr>
        <p:spPr>
          <a:xfrm>
            <a:off x="8275320" y="4937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columns severity &amp; treatment are dropped before training.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pic>
        <p:nvPicPr>
          <p:cNvPr id="4" name="Image 0" descr="assets/pipelin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110642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193792"/>
            <a:ext cx="91440" cy="9144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04748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rows dropped (dropna) — 293 of 500 records retained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5522976"/>
            <a:ext cx="91440" cy="9144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3766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treatment removed to prevent data leakage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5852160"/>
            <a:ext cx="91440" cy="9144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70585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/ occupation / target label-encoded with scikit-learn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6181344"/>
            <a:ext cx="91440" cy="9144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6035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 split, random_state = 42 for reproducibility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Random Forest Classifier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trees, each trained on a bootstrapped sample of the data. Predictions are made by majority vote across all trees — strong performance on structured, tabular data with minimal tuning.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30175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(scikit-learn)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381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34381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(demographic + lifestyle + psychological)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58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38587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Anxiety, Burnout, Depression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42793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20%,  random_state = 42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700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47000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51206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463040"/>
            <a:ext cx="4572000" cy="4709160"/>
          </a:xfrm>
          <a:prstGeom prst="roundRect">
            <a:avLst>
              <a:gd name="adj" fmla="val 2400"/>
            </a:avLst>
          </a:prstGeom>
          <a:solidFill>
            <a:srgbClr val="F4F8F5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219456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0" name="Text 18"/>
          <p:cNvSpPr/>
          <p:nvPr/>
        </p:nvSpPr>
        <p:spPr>
          <a:xfrm>
            <a:off x="7726680" y="21671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numeric &amp; categorical features well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2889504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2889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3" name="Text 21"/>
          <p:cNvSpPr/>
          <p:nvPr/>
        </p:nvSpPr>
        <p:spPr>
          <a:xfrm>
            <a:off x="7726680" y="28620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 vs. a single decision tree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69480" y="3584448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6" name="Text 24"/>
          <p:cNvSpPr/>
          <p:nvPr/>
        </p:nvSpPr>
        <p:spPr>
          <a:xfrm>
            <a:off x="7726680" y="35570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 for interpretability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427939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4279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9" name="Text 27"/>
          <p:cNvSpPr/>
          <p:nvPr/>
        </p:nvSpPr>
        <p:spPr>
          <a:xfrm>
            <a:off x="7726680" y="4251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noisy or imperfectly scaled inputs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69480" y="4974336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49743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2" name="Text 30"/>
          <p:cNvSpPr/>
          <p:nvPr/>
        </p:nvSpPr>
        <p:spPr>
          <a:xfrm>
            <a:off x="7726680" y="49469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on datasets of this size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D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4F8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576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463040"/>
          <a:ext cx="7406640" cy="2103120"/>
        </p:xfrm>
        <a:graphic>
          <a:graphicData uri="http://schemas.openxmlformats.org/drawingml/2006/table">
            <a:tbl>
              <a:tblPr/>
              <a:tblGrid>
                <a:gridCol w="2103120"/>
                <a:gridCol w="1764792"/>
                <a:gridCol w="1764792"/>
                <a:gridCol w="1773936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0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206240" y="37947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and Depression show the most overlap — consistent with real-world symptom similarity between the two conditions.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06240" y="4480560"/>
            <a:ext cx="7406640" cy="0"/>
          </a:xfrm>
          <a:prstGeom prst="line">
            <a:avLst/>
          </a:prstGeom>
          <a:noFill/>
          <a:ln w="12700">
            <a:solidFill>
              <a:srgbClr val="E3EA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46177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test samples  •  4 balanced classes  •  Random Forest, random_state = 42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000" dirty="0"/>
          </a:p>
        </p:txBody>
      </p:sp>
      <p:pic>
        <p:nvPicPr>
          <p:cNvPr id="4" name="Image 0" descr="asse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417320"/>
            <a:ext cx="585216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Prediction?</a:t>
            </a:r>
            <a:endParaRPr lang="en-US" sz="3000" dirty="0"/>
          </a:p>
        </p:txBody>
      </p:sp>
      <p:pic>
        <p:nvPicPr>
          <p:cNvPr id="4" name="Image 0" descr="asse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31520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37160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F4F8F5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TAKEAWAYS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2104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 predictor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21040" y="3474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most influential factor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2104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21040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ranks in the top 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21040" y="5074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21040" y="5394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age/gender/occupation matter least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Streamlit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and encoders are loaded into an interactive Streamlit application. Users answer a short set of sliders and dropdowns and get an instant, plain-language prediction.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051560" y="272491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lifestyle &amp; psychological details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encodes categorical inputs (gender, occupation)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7705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51560" y="38587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sent to the trained Random Forest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51560" y="44256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decoded back into a readable label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10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051560" y="49926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instantly: “Predicted condition: Anxiety”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1417320"/>
            <a:ext cx="4983480" cy="4800600"/>
          </a:xfrm>
          <a:prstGeom prst="roundRect">
            <a:avLst>
              <a:gd name="adj" fmla="val 2286"/>
            </a:avLst>
          </a:prstGeom>
          <a:solidFill>
            <a:srgbClr val="1B3D1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2194560"/>
            <a:ext cx="4434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Health Condition Predictor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2907792"/>
            <a:ext cx="2148840" cy="237744"/>
          </a:xfrm>
          <a:prstGeom prst="roundRect">
            <a:avLst>
              <a:gd name="adj" fmla="val 15385"/>
            </a:avLst>
          </a:prstGeom>
          <a:solidFill>
            <a:srgbClr val="F4F8F5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264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3291840"/>
            <a:ext cx="2148840" cy="237744"/>
          </a:xfrm>
          <a:prstGeom prst="roundRect">
            <a:avLst>
              <a:gd name="adj" fmla="val 15385"/>
            </a:avLst>
          </a:prstGeom>
          <a:solidFill>
            <a:srgbClr val="F4F8F5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6484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52560" y="3675888"/>
            <a:ext cx="2148840" cy="237744"/>
          </a:xfrm>
          <a:prstGeom prst="roundRect">
            <a:avLst>
              <a:gd name="adj" fmla="val 15385"/>
            </a:avLst>
          </a:prstGeom>
          <a:solidFill>
            <a:srgbClr val="F4F8F5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4032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4059936"/>
            <a:ext cx="2148840" cy="237744"/>
          </a:xfrm>
          <a:prstGeom prst="roundRect">
            <a:avLst>
              <a:gd name="adj" fmla="val 15385"/>
            </a:avLst>
          </a:prstGeom>
          <a:solidFill>
            <a:srgbClr val="F4F8F5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4416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4443984"/>
            <a:ext cx="2148840" cy="237744"/>
          </a:xfrm>
          <a:prstGeom prst="roundRect">
            <a:avLst>
              <a:gd name="adj" fmla="val 15385"/>
            </a:avLst>
          </a:prstGeom>
          <a:solidFill>
            <a:srgbClr val="F4F8F5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52560" y="4828032"/>
            <a:ext cx="2148840" cy="237744"/>
          </a:xfrm>
          <a:prstGeom prst="roundRect">
            <a:avLst>
              <a:gd name="adj" fmla="val 15385"/>
            </a:avLst>
          </a:prstGeom>
          <a:solidFill>
            <a:srgbClr val="F4F8F5"/>
          </a:solidFill>
          <a:ln w="9525">
            <a:solidFill>
              <a:srgbClr val="84B59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78040" y="52578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/>
        </p:spPr>
      </p:sp>
      <p:sp>
        <p:nvSpPr>
          <p:cNvPr id="36" name="Text 34"/>
          <p:cNvSpPr/>
          <p:nvPr/>
        </p:nvSpPr>
        <p:spPr>
          <a:xfrm>
            <a:off x="7178040" y="5257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4F8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0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model trained on everyday lifestyle and psychological indicators predicts mental health condition with 94.9% test accuracy. Removing leakage-prone fields (severity, treatment) keeps the evaluation realistic, and feature importance shows sleep, social support, and stress drive most predictions — wrapped in a usable Streamlit app for instant self-screening.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37960" y="21488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6949440" y="21031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explanations for per-user prediction reasoning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286207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6949440" y="281635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diversity (age, culture, occupation)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357530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575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6949440" y="352958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predictions over time via a lightweight database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28853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288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6949440" y="42428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Docker; deploy to the cloud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500176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5001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6949440" y="49560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XGBoost &amp; Logistic Regression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84B59F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38100">
            <a:solidFill>
              <a:srgbClr val="C97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Condition Predictor  —  Random Forest + Streamlit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858</Words>
  <Application>Microsoft Office PowerPoint</Application>
  <PresentationFormat>Custom</PresentationFormat>
  <Paragraphs>199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infos</cp:lastModifiedBy>
  <cp:revision>2</cp:revision>
  <dcterms:created xsi:type="dcterms:W3CDTF">2026-07-09T20:27:41Z</dcterms:created>
  <dcterms:modified xsi:type="dcterms:W3CDTF">2026-07-09T20:41:12Z</dcterms:modified>
</cp:coreProperties>
</file>